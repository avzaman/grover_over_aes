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hnpjC8WQVrQ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nvlpubs.nist.gov/nistpubs/FIPS/NIST.FIPS.197-upd1.pdf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ink-springer-com.proxy.libraries.rutgers.edu/chapter/10.1007/978-3-319-29360-8_3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pdf/2202.10982v1" TargetMode="External"/><Relationship Id="rId3" Type="http://schemas.openxmlformats.org/officeDocument/2006/relationships/hyperlink" Target="https://link-springer-com.proxy.libraries.rutgers.edu/chapter/10.1007/978-3-319-69453-5_18" TargetMode="External"/><Relationship Id="rId4" Type="http://schemas.openxmlformats.org/officeDocument/2006/relationships/hyperlink" Target="https://ieeexplore-ieee-org.proxy.libraries.rutgers.edu/document/11250564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ist.gov/news-events/news/2024/08/nist-releases-first-3-finalized-post-quantum-encryption-standards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76162416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76162416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“What kind of problem is this?”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76162416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76162416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Lets do an exercise!!!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Solve this sudoku puzzle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7481584f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7481584f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Tricked them from previous slide!!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Np problem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Quickly verify the corectness, cannot quickly come to the solution iteself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7481584f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7481584f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“Base form of attack to beat”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If Shor’s didn’t exist you can still guess and check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Lov Kumar Grover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7481584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7481584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Basis states are all possible candidates 2^n n=#ofqubits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Grover called it Diffusion because how the matrices involved resemble some diffusion principles in mathemeatic (that I am unaware of)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“REAL BUT UNMEASUREABLE DIFFERENCE obscured by the nature of superpositions” -&gt; quantum mechanics is funky like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Very good vid on grovers from IBM: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https://www.youtube.com/watch?v=hnpjC8WQVrQ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7481584f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7481584f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7481584f0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7481584f0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7481584f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7481584f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x is all vector states that are invalid solutions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 is the one vector state that is valid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481584f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7481584f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7481584f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7481584f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7481584f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7481584f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7481584f0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7481584f0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7481584f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7481584f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7481584f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7481584f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7481584f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7481584f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7481584f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7481584f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This slide is necessary for showing the time complexity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Actual probability is the square of the amplitude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Absolute val of alpha and beta is # of candidates (basis states)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7481584f0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7481584f0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76162416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76162416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AES = Advanced Encryption Standard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There is a function that take a key and plaintext to produce a ciphertext, using same func can input the same key and cipher and spits out the plaintext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128/192/256 = more rounds 12 -12 -14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Subkeys are always 128 bits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Attack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Linear and differential cryptanalysis, infer keys based on statistical relationship </a:t>
            </a:r>
            <a:r>
              <a:rPr lang="en"/>
              <a:t>between</a:t>
            </a:r>
            <a:r>
              <a:rPr lang="en"/>
              <a:t> plain and cipher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Nist AES standard from 2001: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https://nvlpubs.nist.gov/nistpubs/FIPS/NIST.FIPS.197-upd1.pdf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7481584f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7481584f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Estimates from 2016!!!!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Need more than 1 plaintext ciphertext pair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Why measure in t gate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Fault Tolerant QC hardware frameworks vary a lot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Runtime is not accurate representation of the technology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Cannot actually run something of this scale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 Gates are bottleneck because heavy cost from magic state distillation (not reuseable)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Akin to cost of floating point operations in classical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expensive stuff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GATE DEPTH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2^80 sequences of parallel operations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“Gate height” for the height of the circuit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Diffusion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Take num qubits X 7 t gates per toffoli gate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 for aes grover: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https://link-springer-com.proxy.libraries.rutgers.edu/chapter/10.1007/978-3-319-29360-8_3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7481584f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97481584f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Hashing!!!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SHA = Secure Hash Algorithm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One way functions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Pre-image attack: attempt to find x in Hash(x) = y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Estimates from 2016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2^146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Aes 256 = 2^151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SHA and AES from 2001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Better attack exists having to do with taking advantage of collisions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BHT Brassard Hoyer Tapp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Grover’s hash attack resources: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https://arxiv.org/pdf/2202.10982v1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https://link-springer-com.proxy.libraries.rutgers.edu/chapter/10.1007/978-3-319-69453-5_18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https://ieeexplore-ieee-org.proxy.libraries.rutgers.edu/document/11250564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76162416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976162416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10^-10 years is about 3 millisecond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Classical initially lower due to quantum overhead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Quantum running 10^6 logical gates per second VS classical 10^18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Sensitive to hardware assumptions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10^18 is GPU cluster AES cracking in literature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7481584f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7481584f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NIST = Nation Institute of Standards and Technology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2024 standards are related to Shor’s vulnra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Nist finalized quantum standards: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https://www.nist.gov/news-events/news/2024/08/nist-releases-first-3-finalized-post-quantum-encryption-standards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Quantum Attacks Against Cryptography, Implications of Grover’s Algorithm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Amir Vince Zaman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1563" y="600287"/>
            <a:ext cx="3920875" cy="39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303400" y="1662300"/>
            <a:ext cx="4537200" cy="18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rgbClr val="FF0000"/>
                </a:solidFill>
              </a:rPr>
              <a:t>WRONG!</a:t>
            </a:r>
            <a:endParaRPr sz="8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Set Up</a:t>
            </a:r>
            <a:endParaRPr/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152475"/>
            <a:ext cx="556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Unstructured 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“Boolean Function”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True = found my item, False = that is not my item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NP problem where we can quickly verify if a solution is correct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O(N)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Quantum algorithm offers quadratic speedup O(sqrt(N))</a:t>
            </a:r>
            <a:endParaRPr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775" y="1120749"/>
            <a:ext cx="2885776" cy="29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Grover’s Algorithm Background/High Level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Quadratic speedup to unstructured searching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 form of attack to beat</a:t>
            </a:r>
            <a:endParaRPr/>
          </a:p>
        </p:txBody>
      </p:sp>
      <p:pic>
        <p:nvPicPr>
          <p:cNvPr descr="Dr Lov K. Grover sarkarijobers"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6400" y="1789800"/>
            <a:ext cx="3326800" cy="22178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5204750" y="3981850"/>
            <a:ext cx="323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Lov Kumar Grover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ref: IIT Delhi alumni website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Grover: Circuit Set Up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Oracle (verifier)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Boolean function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Each basis state represents a candidate solution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Output: phase flips only the valid </a:t>
            </a:r>
            <a:r>
              <a:rPr lang="en"/>
              <a:t>solution</a:t>
            </a:r>
            <a:r>
              <a:rPr lang="en"/>
              <a:t> amplitude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Creates a </a:t>
            </a:r>
            <a:r>
              <a:rPr b="1" lang="en"/>
              <a:t>real but unmeasurable</a:t>
            </a:r>
            <a:r>
              <a:rPr lang="en"/>
              <a:t> difference, obscured by superposition probabilities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Oracle must change depending on what solution is verified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Ex. different starts of sudoku, different cipher/plaintext pairs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Diffusion Operator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H (2 |0⟩ ⟨0| - </a:t>
            </a:r>
            <a:r>
              <a:rPr i="1" lang="en"/>
              <a:t>I</a:t>
            </a:r>
            <a:r>
              <a:rPr lang="en"/>
              <a:t>) 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Boosts the candidate solution by inverting around the mean of the amplitudes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H’s turn the |0⟩ ⟨0| into uniform distribution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One sequence of applying these is “G”, one grover </a:t>
            </a:r>
            <a:r>
              <a:rPr lang="en"/>
              <a:t>iteration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" y="937650"/>
            <a:ext cx="8305800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/>
          <p:nvPr/>
        </p:nvSpPr>
        <p:spPr>
          <a:xfrm>
            <a:off x="2141450" y="815550"/>
            <a:ext cx="5403600" cy="37125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12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Grover Circuit</a:t>
            </a:r>
            <a:endParaRPr/>
          </a:p>
        </p:txBody>
      </p:sp>
      <p:cxnSp>
        <p:nvCxnSpPr>
          <p:cNvPr id="94" name="Google Shape;94;p19"/>
          <p:cNvCxnSpPr/>
          <p:nvPr/>
        </p:nvCxnSpPr>
        <p:spPr>
          <a:xfrm>
            <a:off x="1976350" y="730500"/>
            <a:ext cx="0" cy="377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9"/>
          <p:cNvSpPr/>
          <p:nvPr/>
        </p:nvSpPr>
        <p:spPr>
          <a:xfrm>
            <a:off x="2316575" y="1010700"/>
            <a:ext cx="2742000" cy="28035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/>
          <p:nvPr/>
        </p:nvSpPr>
        <p:spPr>
          <a:xfrm>
            <a:off x="5108475" y="1000675"/>
            <a:ext cx="2316600" cy="2221500"/>
          </a:xfrm>
          <a:prstGeom prst="rect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/>
        </p:nvSpPr>
        <p:spPr>
          <a:xfrm rot="-5400000">
            <a:off x="1090750" y="3662500"/>
            <a:ext cx="14160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initialization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4428275" y="4473025"/>
            <a:ext cx="6303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</a:rPr>
              <a:t>G</a:t>
            </a:r>
            <a:endParaRPr sz="1800">
              <a:solidFill>
                <a:srgbClr val="6AA84F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3217200" y="3814200"/>
            <a:ext cx="915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78D8"/>
                </a:solidFill>
              </a:rPr>
              <a:t>Oracle</a:t>
            </a:r>
            <a:endParaRPr sz="1800">
              <a:solidFill>
                <a:srgbClr val="3C78D8"/>
              </a:solidFill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5678875" y="3292250"/>
            <a:ext cx="11958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</a:rPr>
              <a:t>Diffusion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101" name="Google Shape;101;p19"/>
          <p:cNvSpPr/>
          <p:nvPr/>
        </p:nvSpPr>
        <p:spPr>
          <a:xfrm rot="3104948">
            <a:off x="7295814" y="512761"/>
            <a:ext cx="572420" cy="379096"/>
          </a:xfrm>
          <a:custGeom>
            <a:rect b="b" l="l" r="r" t="t"/>
            <a:pathLst>
              <a:path extrusionOk="0" h="15164" w="22897">
                <a:moveTo>
                  <a:pt x="7318" y="15165"/>
                </a:moveTo>
                <a:cubicBezTo>
                  <a:pt x="3956" y="14490"/>
                  <a:pt x="-299" y="11302"/>
                  <a:pt x="43" y="7890"/>
                </a:cubicBezTo>
                <a:cubicBezTo>
                  <a:pt x="453" y="3803"/>
                  <a:pt x="5791" y="1194"/>
                  <a:pt x="9819" y="388"/>
                </a:cubicBezTo>
                <a:cubicBezTo>
                  <a:pt x="12824" y="-214"/>
                  <a:pt x="16621" y="-284"/>
                  <a:pt x="18912" y="1752"/>
                </a:cubicBezTo>
                <a:cubicBezTo>
                  <a:pt x="22200" y="4674"/>
                  <a:pt x="24524" y="11599"/>
                  <a:pt x="21413" y="14710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/>
          <p:nvPr/>
        </p:nvSpPr>
        <p:spPr>
          <a:xfrm>
            <a:off x="829775" y="3444150"/>
            <a:ext cx="7513500" cy="727500"/>
          </a:xfrm>
          <a:prstGeom prst="rect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/>
        </p:nvSpPr>
        <p:spPr>
          <a:xfrm>
            <a:off x="4302375" y="1108275"/>
            <a:ext cx="143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initialization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232450" y="1989200"/>
            <a:ext cx="8639400" cy="8808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/>
          <p:nvPr/>
        </p:nvSpPr>
        <p:spPr>
          <a:xfrm>
            <a:off x="113675" y="1625450"/>
            <a:ext cx="8881800" cy="29100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 b="17926" l="562" r="828" t="10369"/>
          <a:stretch/>
        </p:blipFill>
        <p:spPr>
          <a:xfrm>
            <a:off x="295533" y="2110759"/>
            <a:ext cx="8519450" cy="66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450" y="132400"/>
            <a:ext cx="8763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/>
          <p:nvPr/>
        </p:nvSpPr>
        <p:spPr>
          <a:xfrm>
            <a:off x="8438805" y="1200878"/>
            <a:ext cx="572425" cy="379100"/>
          </a:xfrm>
          <a:custGeom>
            <a:rect b="b" l="l" r="r" t="t"/>
            <a:pathLst>
              <a:path extrusionOk="0" h="15164" w="22897">
                <a:moveTo>
                  <a:pt x="7318" y="15165"/>
                </a:moveTo>
                <a:cubicBezTo>
                  <a:pt x="3956" y="14490"/>
                  <a:pt x="-299" y="11302"/>
                  <a:pt x="43" y="7890"/>
                </a:cubicBezTo>
                <a:cubicBezTo>
                  <a:pt x="453" y="3803"/>
                  <a:pt x="5791" y="1194"/>
                  <a:pt x="9819" y="388"/>
                </a:cubicBezTo>
                <a:cubicBezTo>
                  <a:pt x="12824" y="-214"/>
                  <a:pt x="16621" y="-284"/>
                  <a:pt x="18912" y="1752"/>
                </a:cubicBezTo>
                <a:cubicBezTo>
                  <a:pt x="22200" y="4674"/>
                  <a:pt x="24524" y="11599"/>
                  <a:pt x="21413" y="14710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113" name="Google Shape;113;p20"/>
          <p:cNvCxnSpPr/>
          <p:nvPr/>
        </p:nvCxnSpPr>
        <p:spPr>
          <a:xfrm>
            <a:off x="4342150" y="1108275"/>
            <a:ext cx="0" cy="51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20"/>
          <p:cNvCxnSpPr/>
          <p:nvPr/>
        </p:nvCxnSpPr>
        <p:spPr>
          <a:xfrm>
            <a:off x="4387600" y="2887175"/>
            <a:ext cx="11400" cy="57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5" name="Google Shape;11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1467" y="3597492"/>
            <a:ext cx="7151974" cy="43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Grover: Mapping to the Solution Space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8520600" cy="14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Vector state at any given time is linear combo of: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| 𝜶 ⟩ : uniform superposition of all possible non-solutions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| 𝜷 ⟩ : uniform superposition of all possible solutions (usually 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This spans a 2d space</a:t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000" y="2571750"/>
            <a:ext cx="3095625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075" y="3886200"/>
            <a:ext cx="149542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2000" y="2229875"/>
            <a:ext cx="3135525" cy="272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188" y="152400"/>
            <a:ext cx="4803636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89238"/>
            <a:ext cx="1865387" cy="376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188" y="152400"/>
            <a:ext cx="4803636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89238"/>
            <a:ext cx="1865387" cy="376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188" y="152400"/>
            <a:ext cx="4803636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89238"/>
            <a:ext cx="1865387" cy="376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188" y="152400"/>
            <a:ext cx="4803636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89238"/>
            <a:ext cx="1865387" cy="376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188" y="152400"/>
            <a:ext cx="4803636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89238"/>
            <a:ext cx="1865387" cy="376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188" y="152400"/>
            <a:ext cx="4803636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89238"/>
            <a:ext cx="1865387" cy="376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638" y="152400"/>
            <a:ext cx="4852724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912" y="706388"/>
            <a:ext cx="1840838" cy="3730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400" y="816900"/>
            <a:ext cx="3135525" cy="272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Grover: Picking the Number of I</a:t>
            </a:r>
            <a:r>
              <a:rPr lang="en"/>
              <a:t>terations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1152475"/>
            <a:ext cx="3979800" cy="37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Uniform mixed state creates angle 𝜽 in solution space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The 2 reflections result in a rotation by 2</a:t>
            </a:r>
            <a:r>
              <a:rPr lang="en"/>
              <a:t>𝜽</a:t>
            </a:r>
            <a:r>
              <a:rPr lang="en"/>
              <a:t> every iteration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Want sin^2((2t+1)</a:t>
            </a:r>
            <a:r>
              <a:rPr lang="en"/>
              <a:t>𝜽</a:t>
            </a:r>
            <a:r>
              <a:rPr lang="en"/>
              <a:t>) to be close to 1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(2t-1)𝜽 = π/2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 = π/4𝜽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 = pi/4sqrt(N)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O(sqrt(N))</a:t>
            </a:r>
            <a:endParaRPr/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2900" y="3566063"/>
            <a:ext cx="4857750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0" title="grov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0"/>
          <p:cNvSpPr txBox="1"/>
          <p:nvPr/>
        </p:nvSpPr>
        <p:spPr>
          <a:xfrm>
            <a:off x="911900" y="448525"/>
            <a:ext cx="327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N=1024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911900" y="910225"/>
            <a:ext cx="151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25 iterations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Symmetric Key Encryption and AES-128/192/256</a:t>
            </a:r>
            <a:endParaRPr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311700" y="1152475"/>
            <a:ext cx="4476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One key encrypts and decrypts data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Algorithm is public, security remains in keeping the key secret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AES(k,p) = c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AES accomplishes this using 4 core functions: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AddRoundKey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MixColumns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ShiftRows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SubBytes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Attack involves having small portion of known plaintext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This is the core of the validation step</a:t>
            </a:r>
            <a:endParaRPr/>
          </a:p>
        </p:txBody>
      </p:sp>
      <p:pic>
        <p:nvPicPr>
          <p:cNvPr id="188" name="Google Shape;1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9350" y="1152475"/>
            <a:ext cx="3975202" cy="3975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311700" y="1152475"/>
            <a:ext cx="4993200" cy="38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Oracle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Evaluate AES(key,plaintext)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romanLcPeriod"/>
            </a:pPr>
            <a:r>
              <a:rPr lang="en">
                <a:solidFill>
                  <a:srgbClr val="FF0000"/>
                </a:solidFill>
              </a:rPr>
              <a:t>SubWord ≈ 143360 T Gates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AddRoundKey  ≈ 128 CNOTs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MixColumns ≈ 277 CNOTs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ShiftRows ≈ relable qubits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romanLcPeriod"/>
            </a:pPr>
            <a:r>
              <a:rPr lang="en">
                <a:solidFill>
                  <a:srgbClr val="FF0000"/>
                </a:solidFill>
              </a:rPr>
              <a:t>SubBytes ≈ 573440 T Gates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Compare result to ciphertext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Multiply Controlled CNOT ≈ 1000 T gates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X2(clear ancilla) x3(plaintext ciphertext pairs) </a:t>
            </a:r>
            <a:r>
              <a:rPr lang="en"/>
              <a:t>≈ 5,000,000/iteration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Diffusion (cheap)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128 qubits ≈ 896 T gates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256 qubits ≈ 1792 T gates</a:t>
            </a:r>
            <a:endParaRPr/>
          </a:p>
        </p:txBody>
      </p:sp>
      <p:sp>
        <p:nvSpPr>
          <p:cNvPr id="194" name="Google Shape;19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of Quantum Implementation of  AES-128</a:t>
            </a:r>
            <a:endParaRPr/>
          </a:p>
        </p:txBody>
      </p:sp>
      <p:sp>
        <p:nvSpPr>
          <p:cNvPr id="195" name="Google Shape;195;p32"/>
          <p:cNvSpPr txBox="1"/>
          <p:nvPr/>
        </p:nvSpPr>
        <p:spPr>
          <a:xfrm>
            <a:off x="5126975" y="1718175"/>
            <a:ext cx="908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2"/>
                </a:solidFill>
              </a:rPr>
              <a:t>｝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196" name="Google Shape;196;p32"/>
          <p:cNvSpPr txBox="1"/>
          <p:nvPr/>
        </p:nvSpPr>
        <p:spPr>
          <a:xfrm>
            <a:off x="5991575" y="2268875"/>
            <a:ext cx="289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FF0000"/>
                </a:solidFill>
              </a:rPr>
              <a:t>1.19 x 2</a:t>
            </a:r>
            <a:r>
              <a:rPr baseline="30000" lang="en" sz="2100">
                <a:solidFill>
                  <a:srgbClr val="FF0000"/>
                </a:solidFill>
              </a:rPr>
              <a:t>86</a:t>
            </a:r>
            <a:r>
              <a:rPr lang="en" sz="2100">
                <a:solidFill>
                  <a:srgbClr val="FF0000"/>
                </a:solidFill>
              </a:rPr>
              <a:t> T Gates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 of grovers</a:t>
            </a:r>
            <a:endParaRPr/>
          </a:p>
        </p:txBody>
      </p:sp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311700" y="1152475"/>
            <a:ext cx="518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O(√N) is the mathematical floor to beat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effects hashing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x in Hash(x) = 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quadratic speedup, just increase N to defend (search space increases exponentially)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Complexity of the oracle (increases necessary gates, qubits, compute time)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AES and SHA not designed for quantum</a:t>
            </a:r>
            <a:endParaRPr/>
          </a:p>
        </p:txBody>
      </p:sp>
      <p:pic>
        <p:nvPicPr>
          <p:cNvPr id="203" name="Google Shape;20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1775" y="1152475"/>
            <a:ext cx="3337800" cy="220420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3"/>
          <p:cNvSpPr txBox="1"/>
          <p:nvPr/>
        </p:nvSpPr>
        <p:spPr>
          <a:xfrm>
            <a:off x="6283450" y="3356675"/>
            <a:ext cx="219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Fig: SHA-2 Quantum Circuit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9728" y="366525"/>
            <a:ext cx="4624549" cy="462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 Effects of Quantum Crypto Attacks</a:t>
            </a:r>
            <a:endParaRPr/>
          </a:p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311700" y="1152475"/>
            <a:ext cx="436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Download now decrypt later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Crypto agility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Uncertainty of new findings, pivot quickly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Migration costs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 costs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Timeline uncertainty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Quantum tech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Standardization rollouts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NIST 2024 Standards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Key Exchange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Digital Signatures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